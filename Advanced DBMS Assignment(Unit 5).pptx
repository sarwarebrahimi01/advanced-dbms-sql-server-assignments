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9/19/2025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9/19/2025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9/19/2025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9/19/2025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9/19/2025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9/19/2025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Sarwar ebrahimi</a:t>
            </a:r>
            <a:endParaRPr lang="en-US" dirty="0"/>
          </a:p>
        </p:txBody>
      </p:sp>
      <p:sp>
        <p:nvSpPr>
          <p:cNvPr id="3" name="Subtitle 2"/>
          <p:cNvSpPr>
            <a:spLocks noGrp="1"/>
          </p:cNvSpPr>
          <p:nvPr>
            <p:ph type="subTitle" idx="1"/>
          </p:nvPr>
        </p:nvSpPr>
        <p:spPr/>
        <p:txBody>
          <a:bodyPr/>
          <a:lstStyle/>
          <a:p>
            <a:r>
              <a:rPr lang="en-US" dirty="0" smtClean="0"/>
              <a:t>ISE 3</a:t>
            </a:r>
            <a:r>
              <a:rPr lang="en-US" baseline="30000" dirty="0" smtClean="0"/>
              <a:t>rd</a:t>
            </a:r>
            <a:r>
              <a:rPr lang="en-US" dirty="0" smtClean="0"/>
              <a:t> Class 5</a:t>
            </a:r>
            <a:r>
              <a:rPr lang="en-US" baseline="30000" dirty="0" smtClean="0"/>
              <a:t>th</a:t>
            </a:r>
            <a:r>
              <a:rPr lang="en-US" dirty="0" smtClean="0"/>
              <a:t> Semester</a:t>
            </a:r>
            <a:endParaRPr lang="en-US" dirty="0"/>
          </a:p>
        </p:txBody>
      </p:sp>
      <p:sp>
        <p:nvSpPr>
          <p:cNvPr id="5" name="TextBox 4"/>
          <p:cNvSpPr txBox="1"/>
          <p:nvPr/>
        </p:nvSpPr>
        <p:spPr>
          <a:xfrm>
            <a:off x="2964872" y="812801"/>
            <a:ext cx="6073315" cy="1569660"/>
          </a:xfrm>
          <a:prstGeom prst="rect">
            <a:avLst/>
          </a:prstGeom>
          <a:noFill/>
        </p:spPr>
        <p:txBody>
          <a:bodyPr wrap="square" rtlCol="0">
            <a:spAutoFit/>
          </a:bodyPr>
          <a:lstStyle/>
          <a:p>
            <a:r>
              <a:rPr lang="en-US" sz="3200" dirty="0">
                <a:solidFill>
                  <a:srgbClr val="FFFF00"/>
                </a:solidFill>
              </a:rPr>
              <a:t>ADVANCED DBMS </a:t>
            </a:r>
            <a:r>
              <a:rPr lang="en-US" sz="3200" dirty="0" smtClean="0">
                <a:solidFill>
                  <a:srgbClr val="FFFF00"/>
                </a:solidFill>
              </a:rPr>
              <a:t>ASSIGNMENT</a:t>
            </a:r>
          </a:p>
          <a:p>
            <a:r>
              <a:rPr lang="en-US" sz="3200" dirty="0" smtClean="0">
                <a:solidFill>
                  <a:srgbClr val="0070C0"/>
                </a:solidFill>
              </a:rPr>
              <a:t>Unit 5 Assignment</a:t>
            </a:r>
          </a:p>
          <a:p>
            <a:r>
              <a:rPr lang="en-US" sz="3200" dirty="0" smtClean="0">
                <a:solidFill>
                  <a:srgbClr val="FF0000"/>
                </a:solidFill>
              </a:rPr>
              <a:t>Instructor: Pro. Gharani</a:t>
            </a:r>
            <a:endParaRPr lang="en-US" sz="3200" dirty="0">
              <a:solidFill>
                <a:srgbClr val="FF0000"/>
              </a:solidFill>
            </a:endParaRPr>
          </a:p>
        </p:txBody>
      </p:sp>
    </p:spTree>
    <p:extLst>
      <p:ext uri="{BB962C8B-B14F-4D97-AF65-F5344CB8AC3E}">
        <p14:creationId xmlns:p14="http://schemas.microsoft.com/office/powerpoint/2010/main" val="6902366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fontScale="92500" lnSpcReduction="10000"/>
          </a:bodyPr>
          <a:lstStyle/>
          <a:p>
            <a:pPr marL="0" indent="0">
              <a:buNone/>
            </a:pPr>
            <a:r>
              <a:rPr lang="en-US" dirty="0" smtClean="0">
                <a:solidFill>
                  <a:srgbClr val="FF0000"/>
                </a:solidFill>
              </a:rPr>
              <a:t>1-</a:t>
            </a:r>
            <a:r>
              <a:rPr lang="en-US" dirty="0" smtClean="0"/>
              <a:t> Using </a:t>
            </a:r>
            <a:r>
              <a:rPr lang="en-US" dirty="0"/>
              <a:t>the CREATE DATABASE statement, create a new database named test_db with explicit specifications for database and transaction log files. The database file with the logical name test_db_dat is stored in the file C:\tmp\test_db.mdf and the initial size is 5MB, the maximum size is unlimited, and the file growth is 8 percent. The log file called test_db_log is stored in the file C:\tmp\test_db_log.ldf and the initial size is 2MB, the </a:t>
            </a:r>
            <a:r>
              <a:rPr lang="en-US" dirty="0" smtClean="0"/>
              <a:t>maximum </a:t>
            </a:r>
            <a:r>
              <a:rPr lang="en-US" dirty="0"/>
              <a:t>size is 10MB, and the file growth is 500KB</a:t>
            </a:r>
            <a:r>
              <a:rPr lang="en-US" dirty="0" smtClean="0"/>
              <a:t>.</a:t>
            </a:r>
          </a:p>
          <a:p>
            <a:pPr marL="0" indent="0">
              <a:buNone/>
            </a:pPr>
            <a:r>
              <a:rPr lang="en-US" dirty="0" smtClean="0">
                <a:solidFill>
                  <a:srgbClr val="00B050"/>
                </a:solidFill>
              </a:rPr>
              <a:t>Answer: </a:t>
            </a:r>
            <a:r>
              <a:rPr lang="en-US" dirty="0" smtClean="0">
                <a:solidFill>
                  <a:srgbClr val="0070C0"/>
                </a:solidFill>
              </a:rPr>
              <a:t>USE </a:t>
            </a:r>
            <a:r>
              <a:rPr lang="en-US" dirty="0">
                <a:solidFill>
                  <a:srgbClr val="0070C0"/>
                </a:solidFill>
              </a:rPr>
              <a:t>master;</a:t>
            </a:r>
          </a:p>
          <a:p>
            <a:pPr marL="0" indent="0">
              <a:buNone/>
            </a:pPr>
            <a:r>
              <a:rPr lang="en-US" dirty="0">
                <a:solidFill>
                  <a:srgbClr val="0070C0"/>
                </a:solidFill>
              </a:rPr>
              <a:t>GO</a:t>
            </a:r>
          </a:p>
          <a:p>
            <a:pPr marL="0" indent="0">
              <a:buNone/>
            </a:pPr>
            <a:r>
              <a:rPr lang="en-US" dirty="0">
                <a:solidFill>
                  <a:srgbClr val="0070C0"/>
                </a:solidFill>
              </a:rPr>
              <a:t>CREATE DATABASE test_db</a:t>
            </a:r>
          </a:p>
          <a:p>
            <a:pPr marL="0" indent="0">
              <a:buNone/>
            </a:pPr>
            <a:r>
              <a:rPr lang="en-US" dirty="0">
                <a:solidFill>
                  <a:srgbClr val="0070C0"/>
                </a:solidFill>
              </a:rPr>
              <a:t> ON (NAME = test_db_dat,</a:t>
            </a:r>
          </a:p>
          <a:p>
            <a:pPr marL="0" indent="0">
              <a:buNone/>
            </a:pPr>
            <a:r>
              <a:rPr lang="en-US" dirty="0">
                <a:solidFill>
                  <a:srgbClr val="0070C0"/>
                </a:solidFill>
              </a:rPr>
              <a:t> FILENAME='C:\tmp\</a:t>
            </a:r>
            <a:r>
              <a:rPr lang="en-US" dirty="0" err="1">
                <a:solidFill>
                  <a:srgbClr val="0070C0"/>
                </a:solidFill>
              </a:rPr>
              <a:t>test_db.mdf</a:t>
            </a:r>
            <a:r>
              <a:rPr lang="en-US" dirty="0">
                <a:solidFill>
                  <a:srgbClr val="0070C0"/>
                </a:solidFill>
              </a:rPr>
              <a:t>',</a:t>
            </a:r>
          </a:p>
          <a:p>
            <a:pPr marL="0" indent="0">
              <a:buNone/>
            </a:pPr>
            <a:r>
              <a:rPr lang="en-US" dirty="0">
                <a:solidFill>
                  <a:srgbClr val="0070C0"/>
                </a:solidFill>
              </a:rPr>
              <a:t> SIZE = 5, MAXSIZE = UNLIMITED, FILEGROWTH = 8%)</a:t>
            </a:r>
          </a:p>
          <a:p>
            <a:pPr marL="0" indent="0">
              <a:buNone/>
            </a:pPr>
            <a:r>
              <a:rPr lang="en-US" dirty="0">
                <a:solidFill>
                  <a:srgbClr val="0070C0"/>
                </a:solidFill>
              </a:rPr>
              <a:t> LOG ON</a:t>
            </a:r>
          </a:p>
          <a:p>
            <a:pPr marL="0" indent="0">
              <a:buNone/>
            </a:pPr>
            <a:r>
              <a:rPr lang="en-US" dirty="0">
                <a:solidFill>
                  <a:srgbClr val="0070C0"/>
                </a:solidFill>
              </a:rPr>
              <a:t> (NAME=</a:t>
            </a:r>
            <a:r>
              <a:rPr lang="en-US" dirty="0" err="1">
                <a:solidFill>
                  <a:srgbClr val="0070C0"/>
                </a:solidFill>
              </a:rPr>
              <a:t>test_db_log</a:t>
            </a:r>
            <a:r>
              <a:rPr lang="en-US" dirty="0">
                <a:solidFill>
                  <a:srgbClr val="0070C0"/>
                </a:solidFill>
              </a:rPr>
              <a:t>,</a:t>
            </a:r>
          </a:p>
          <a:p>
            <a:pPr marL="0" indent="0">
              <a:buNone/>
            </a:pPr>
            <a:r>
              <a:rPr lang="en-US" dirty="0">
                <a:solidFill>
                  <a:srgbClr val="0070C0"/>
                </a:solidFill>
              </a:rPr>
              <a:t> FILENAME = 'C:\tmp\</a:t>
            </a:r>
            <a:r>
              <a:rPr lang="en-US" dirty="0" err="1">
                <a:solidFill>
                  <a:srgbClr val="0070C0"/>
                </a:solidFill>
              </a:rPr>
              <a:t>test_db_log.ldf</a:t>
            </a:r>
            <a:r>
              <a:rPr lang="en-US" dirty="0">
                <a:solidFill>
                  <a:srgbClr val="0070C0"/>
                </a:solidFill>
              </a:rPr>
              <a:t>',</a:t>
            </a:r>
          </a:p>
          <a:p>
            <a:pPr marL="0" indent="0">
              <a:buNone/>
            </a:pPr>
            <a:r>
              <a:rPr lang="en-US" dirty="0">
                <a:solidFill>
                  <a:srgbClr val="0070C0"/>
                </a:solidFill>
              </a:rPr>
              <a:t> SIZE = 2, MAXSIZE = 10, FILEGROWTH = 500KB)</a:t>
            </a:r>
          </a:p>
        </p:txBody>
      </p:sp>
    </p:spTree>
    <p:extLst>
      <p:ext uri="{BB962C8B-B14F-4D97-AF65-F5344CB8AC3E}">
        <p14:creationId xmlns:p14="http://schemas.microsoft.com/office/powerpoint/2010/main" val="10835924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a:bodyPr>
          <a:lstStyle/>
          <a:p>
            <a:pPr marL="0" marR="0">
              <a:lnSpc>
                <a:spcPct val="107000"/>
              </a:lnSpc>
              <a:spcBef>
                <a:spcPts val="0"/>
              </a:spcBef>
              <a:spcAft>
                <a:spcPts val="800"/>
              </a:spcAft>
            </a:pPr>
            <a:r>
              <a:rPr lang="en-US" sz="2400" dirty="0" smtClean="0">
                <a:solidFill>
                  <a:srgbClr val="FF0000"/>
                </a:solidFill>
                <a:latin typeface="Calibri" panose="020F0502020204030204" pitchFamily="34" charset="0"/>
                <a:ea typeface="Calibri" panose="020F0502020204030204" pitchFamily="34" charset="0"/>
                <a:cs typeface="Arial" panose="020B0604020202020204" pitchFamily="34" charset="0"/>
              </a:rPr>
              <a:t>2- </a:t>
            </a:r>
            <a:r>
              <a:rPr lang="en-US" sz="2400" dirty="0" smtClean="0">
                <a:latin typeface="Calibri" panose="020F0502020204030204" pitchFamily="34" charset="0"/>
                <a:ea typeface="Calibri" panose="020F0502020204030204" pitchFamily="34" charset="0"/>
                <a:cs typeface="Arial" panose="020B0604020202020204" pitchFamily="34" charset="0"/>
              </a:rPr>
              <a:t>Using </a:t>
            </a:r>
            <a:r>
              <a:rPr lang="en-US" sz="2400" dirty="0">
                <a:latin typeface="Calibri" panose="020F0502020204030204" pitchFamily="34" charset="0"/>
                <a:ea typeface="Calibri" panose="020F0502020204030204" pitchFamily="34" charset="0"/>
                <a:cs typeface="Arial" panose="020B0604020202020204" pitchFamily="34" charset="0"/>
              </a:rPr>
              <a:t>the ALTER DATABASE statement, add a new log file to the test_db database. The </a:t>
            </a:r>
          </a:p>
          <a:p>
            <a:pPr marL="0" marR="0">
              <a:lnSpc>
                <a:spcPct val="107000"/>
              </a:lnSpc>
              <a:spcBef>
                <a:spcPts val="0"/>
              </a:spcBef>
              <a:spcAft>
                <a:spcPts val="800"/>
              </a:spcAft>
            </a:pPr>
            <a:r>
              <a:rPr lang="en-US" sz="2400" dirty="0">
                <a:latin typeface="Calibri" panose="020F0502020204030204" pitchFamily="34" charset="0"/>
                <a:ea typeface="Calibri" panose="020F0502020204030204" pitchFamily="34" charset="0"/>
                <a:cs typeface="Arial" panose="020B0604020202020204" pitchFamily="34" charset="0"/>
              </a:rPr>
              <a:t>log file is stored in the file C:\tmp\emp_log.ldf and the initial size of the file is 2MB, with </a:t>
            </a:r>
            <a:r>
              <a:rPr lang="en-US" sz="2400" dirty="0" smtClean="0">
                <a:latin typeface="Calibri" panose="020F0502020204030204" pitchFamily="34" charset="0"/>
                <a:ea typeface="Calibri" panose="020F0502020204030204" pitchFamily="34" charset="0"/>
                <a:cs typeface="Arial" panose="020B0604020202020204" pitchFamily="34" charset="0"/>
              </a:rPr>
              <a:t>growth of </a:t>
            </a:r>
            <a:r>
              <a:rPr lang="en-US" sz="2400" dirty="0">
                <a:latin typeface="Calibri" panose="020F0502020204030204" pitchFamily="34" charset="0"/>
                <a:ea typeface="Calibri" panose="020F0502020204030204" pitchFamily="34" charset="0"/>
                <a:cs typeface="Arial" panose="020B0604020202020204" pitchFamily="34" charset="0"/>
              </a:rPr>
              <a:t>2MB and an unlimited maximum size</a:t>
            </a:r>
            <a:r>
              <a:rPr lang="en-US" sz="2400" dirty="0" smtClean="0">
                <a:latin typeface="Calibri" panose="020F0502020204030204" pitchFamily="34" charset="0"/>
                <a:ea typeface="Calibri" panose="020F0502020204030204" pitchFamily="34" charset="0"/>
                <a:cs typeface="Arial" panose="020B0604020202020204" pitchFamily="34" charset="0"/>
              </a:rPr>
              <a:t>.</a:t>
            </a:r>
          </a:p>
          <a:p>
            <a:pPr marL="0" marR="0">
              <a:lnSpc>
                <a:spcPct val="107000"/>
              </a:lnSpc>
              <a:spcBef>
                <a:spcPts val="0"/>
              </a:spcBef>
              <a:spcAft>
                <a:spcPts val="800"/>
              </a:spcAft>
            </a:pPr>
            <a:r>
              <a:rPr lang="en-US" sz="2400" dirty="0">
                <a:solidFill>
                  <a:srgbClr val="0070C0"/>
                </a:solidFill>
                <a:latin typeface="Calibri" panose="020F0502020204030204" pitchFamily="34" charset="0"/>
                <a:ea typeface="Calibri" panose="020F0502020204030204" pitchFamily="34" charset="0"/>
                <a:cs typeface="Arial" panose="020B0604020202020204" pitchFamily="34" charset="0"/>
              </a:rPr>
              <a:t>USE master;</a:t>
            </a:r>
          </a:p>
          <a:p>
            <a:pPr marL="0" marR="0">
              <a:lnSpc>
                <a:spcPct val="107000"/>
              </a:lnSpc>
              <a:spcBef>
                <a:spcPts val="0"/>
              </a:spcBef>
              <a:spcAft>
                <a:spcPts val="800"/>
              </a:spcAft>
            </a:pPr>
            <a:r>
              <a:rPr lang="en-US" sz="2400" dirty="0">
                <a:solidFill>
                  <a:srgbClr val="0070C0"/>
                </a:solidFill>
                <a:latin typeface="Calibri" panose="020F0502020204030204" pitchFamily="34" charset="0"/>
                <a:ea typeface="Calibri" panose="020F0502020204030204" pitchFamily="34" charset="0"/>
                <a:cs typeface="Arial" panose="020B0604020202020204" pitchFamily="34" charset="0"/>
              </a:rPr>
              <a:t>ALTER DATABASE test_db</a:t>
            </a:r>
          </a:p>
          <a:p>
            <a:pPr marL="0" marR="0">
              <a:lnSpc>
                <a:spcPct val="107000"/>
              </a:lnSpc>
              <a:spcBef>
                <a:spcPts val="0"/>
              </a:spcBef>
              <a:spcAft>
                <a:spcPts val="800"/>
              </a:spcAft>
            </a:pPr>
            <a:r>
              <a:rPr lang="en-US" sz="2400" dirty="0">
                <a:solidFill>
                  <a:srgbClr val="0070C0"/>
                </a:solidFill>
                <a:latin typeface="Calibri" panose="020F0502020204030204" pitchFamily="34" charset="0"/>
                <a:ea typeface="Calibri" panose="020F0502020204030204" pitchFamily="34" charset="0"/>
                <a:cs typeface="Arial" panose="020B0604020202020204" pitchFamily="34" charset="0"/>
              </a:rPr>
              <a:t> ADD LOG FILE (NAME=emp_log1,</a:t>
            </a:r>
          </a:p>
          <a:p>
            <a:pPr marL="0" marR="0">
              <a:lnSpc>
                <a:spcPct val="107000"/>
              </a:lnSpc>
              <a:spcBef>
                <a:spcPts val="0"/>
              </a:spcBef>
              <a:spcAft>
                <a:spcPts val="800"/>
              </a:spcAft>
            </a:pPr>
            <a:r>
              <a:rPr lang="en-US" sz="2400" dirty="0">
                <a:solidFill>
                  <a:srgbClr val="0070C0"/>
                </a:solidFill>
                <a:latin typeface="Calibri" panose="020F0502020204030204" pitchFamily="34" charset="0"/>
                <a:ea typeface="Calibri" panose="020F0502020204030204" pitchFamily="34" charset="0"/>
                <a:cs typeface="Arial" panose="020B0604020202020204" pitchFamily="34" charset="0"/>
              </a:rPr>
              <a:t> FILENAME='C:\tmp\</a:t>
            </a:r>
            <a:r>
              <a:rPr lang="en-US" sz="2400" dirty="0" err="1">
                <a:solidFill>
                  <a:srgbClr val="0070C0"/>
                </a:solidFill>
                <a:latin typeface="Calibri" panose="020F0502020204030204" pitchFamily="34" charset="0"/>
                <a:ea typeface="Calibri" panose="020F0502020204030204" pitchFamily="34" charset="0"/>
                <a:cs typeface="Arial" panose="020B0604020202020204" pitchFamily="34" charset="0"/>
              </a:rPr>
              <a:t>test_db.ldf</a:t>
            </a:r>
            <a:r>
              <a:rPr lang="en-US" sz="2400" dirty="0">
                <a:solidFill>
                  <a:srgbClr val="0070C0"/>
                </a:solidFill>
                <a:latin typeface="Calibri" panose="020F0502020204030204" pitchFamily="34" charset="0"/>
                <a:ea typeface="Calibri" panose="020F0502020204030204" pitchFamily="34" charset="0"/>
                <a:cs typeface="Arial" panose="020B0604020202020204" pitchFamily="34" charset="0"/>
              </a:rPr>
              <a:t>',</a:t>
            </a:r>
          </a:p>
          <a:p>
            <a:pPr marL="0" marR="0">
              <a:lnSpc>
                <a:spcPct val="107000"/>
              </a:lnSpc>
              <a:spcBef>
                <a:spcPts val="0"/>
              </a:spcBef>
              <a:spcAft>
                <a:spcPts val="800"/>
              </a:spcAft>
            </a:pPr>
            <a:r>
              <a:rPr lang="en-US" sz="2400" dirty="0">
                <a:solidFill>
                  <a:srgbClr val="0070C0"/>
                </a:solidFill>
                <a:latin typeface="Calibri" panose="020F0502020204030204" pitchFamily="34" charset="0"/>
                <a:ea typeface="Calibri" panose="020F0502020204030204" pitchFamily="34" charset="0"/>
                <a:cs typeface="Arial" panose="020B0604020202020204" pitchFamily="34" charset="0"/>
              </a:rPr>
              <a:t> SIZE=2, MAXSIZE=UNLIMITED, FILEGROWTH=2)</a:t>
            </a:r>
            <a:endParaRPr lang="en-US" sz="2400" dirty="0" smtClean="0">
              <a:solidFill>
                <a:srgbClr val="0070C0"/>
              </a:solidFill>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39556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a:bodyPr>
          <a:lstStyle/>
          <a:p>
            <a:r>
              <a:rPr lang="en-US" dirty="0" smtClean="0"/>
              <a:t>3- </a:t>
            </a:r>
            <a:r>
              <a:rPr lang="en-US" dirty="0"/>
              <a:t>Using the ALTER DATABASE statement, change the file size of the test_db database </a:t>
            </a:r>
            <a:r>
              <a:rPr lang="en-US" dirty="0" smtClean="0"/>
              <a:t>to10MB.</a:t>
            </a:r>
          </a:p>
          <a:p>
            <a:r>
              <a:rPr lang="en-US" dirty="0">
                <a:solidFill>
                  <a:srgbClr val="0070C0"/>
                </a:solidFill>
              </a:rPr>
              <a:t>USE master;</a:t>
            </a:r>
          </a:p>
          <a:p>
            <a:r>
              <a:rPr lang="en-US" dirty="0">
                <a:solidFill>
                  <a:srgbClr val="0070C0"/>
                </a:solidFill>
              </a:rPr>
              <a:t>ALTER DATABASE test_db</a:t>
            </a:r>
          </a:p>
          <a:p>
            <a:r>
              <a:rPr lang="en-US" dirty="0">
                <a:solidFill>
                  <a:srgbClr val="0070C0"/>
                </a:solidFill>
              </a:rPr>
              <a:t> MODIFY FILE</a:t>
            </a:r>
          </a:p>
          <a:p>
            <a:r>
              <a:rPr lang="en-US" dirty="0">
                <a:solidFill>
                  <a:srgbClr val="0070C0"/>
                </a:solidFill>
              </a:rPr>
              <a:t> (NAME = test_db_dat, SIZE = 10MB</a:t>
            </a:r>
            <a:r>
              <a:rPr lang="en-US" dirty="0"/>
              <a:t>)</a:t>
            </a:r>
            <a:endParaRPr lang="en-US" dirty="0" smtClean="0"/>
          </a:p>
          <a:p>
            <a:pPr marL="0" indent="0">
              <a:buNone/>
            </a:pPr>
            <a:endParaRPr lang="en-US" dirty="0" smtClean="0"/>
          </a:p>
          <a:p>
            <a:r>
              <a:rPr lang="en-US" dirty="0" smtClean="0"/>
              <a:t>4- In </a:t>
            </a:r>
            <a:r>
              <a:rPr lang="en-US" dirty="0"/>
              <a:t>Example 5.4, there are some columns of the four created tables defined with the NOT </a:t>
            </a:r>
          </a:p>
          <a:p>
            <a:r>
              <a:rPr lang="en-US" dirty="0"/>
              <a:t>NULL specification. For which column is this specification required and for which is it not </a:t>
            </a:r>
          </a:p>
          <a:p>
            <a:r>
              <a:rPr lang="en-US" dirty="0"/>
              <a:t>required</a:t>
            </a:r>
            <a:r>
              <a:rPr lang="en-US" dirty="0" smtClean="0"/>
              <a:t>?</a:t>
            </a:r>
          </a:p>
          <a:p>
            <a:r>
              <a:rPr lang="en-US" dirty="0">
                <a:solidFill>
                  <a:srgbClr val="0070C0"/>
                </a:solidFill>
              </a:rPr>
              <a:t>The NOT NULL specification is necessary for all columns that are part of the primary key</a:t>
            </a:r>
            <a:endParaRPr lang="en-US" dirty="0">
              <a:solidFill>
                <a:srgbClr val="0070C0"/>
              </a:solidFill>
            </a:endParaRPr>
          </a:p>
          <a:p>
            <a:pPr marL="0" indent="0">
              <a:buNone/>
            </a:pPr>
            <a:endParaRPr lang="en-US" dirty="0"/>
          </a:p>
        </p:txBody>
      </p:sp>
    </p:spTree>
    <p:extLst>
      <p:ext uri="{BB962C8B-B14F-4D97-AF65-F5344CB8AC3E}">
        <p14:creationId xmlns:p14="http://schemas.microsoft.com/office/powerpoint/2010/main" val="19770052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a:bodyPr>
          <a:lstStyle/>
          <a:p>
            <a:r>
              <a:rPr lang="en-US" dirty="0" smtClean="0"/>
              <a:t>5- Why </a:t>
            </a:r>
            <a:r>
              <a:rPr lang="en-US" dirty="0"/>
              <a:t>are the columns dept_no and project_no in Example 5.4 defined as CHAR values </a:t>
            </a:r>
          </a:p>
          <a:p>
            <a:r>
              <a:rPr lang="en-US" dirty="0"/>
              <a:t>(and not as numerical values</a:t>
            </a:r>
            <a:r>
              <a:rPr lang="en-US" dirty="0" smtClean="0"/>
              <a:t>)?</a:t>
            </a:r>
          </a:p>
          <a:p>
            <a:r>
              <a:rPr lang="en-US" dirty="0">
                <a:solidFill>
                  <a:srgbClr val="0070C0"/>
                </a:solidFill>
              </a:rPr>
              <a:t>dept_no and project_no are defined as CHAR values because they may contain alphanumerica</a:t>
            </a:r>
            <a:r>
              <a:rPr lang="en-US" dirty="0"/>
              <a:t>l values.</a:t>
            </a:r>
            <a:endParaRPr lang="en-US" dirty="0"/>
          </a:p>
          <a:p>
            <a:r>
              <a:rPr lang="en-US" dirty="0" smtClean="0"/>
              <a:t>6- Create </a:t>
            </a:r>
            <a:r>
              <a:rPr lang="en-US" dirty="0"/>
              <a:t>the tables customers and orders with the following columns. (Do not declare the </a:t>
            </a:r>
            <a:r>
              <a:rPr lang="en-US" dirty="0" smtClean="0"/>
              <a:t>corresponding </a:t>
            </a:r>
            <a:r>
              <a:rPr lang="en-US" dirty="0"/>
              <a:t>primary and foreign keys.)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71701959"/>
              </p:ext>
            </p:extLst>
          </p:nvPr>
        </p:nvGraphicFramePr>
        <p:xfrm>
          <a:off x="1024130" y="3121121"/>
          <a:ext cx="8128000" cy="333756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sz="1800" b="1" kern="1200" dirty="0" smtClean="0">
                          <a:solidFill>
                            <a:schemeClr val="lt1"/>
                          </a:solidFill>
                          <a:effectLst/>
                          <a:latin typeface="+mn-lt"/>
                          <a:ea typeface="+mn-ea"/>
                          <a:cs typeface="+mn-cs"/>
                        </a:rPr>
                        <a:t>customers </a:t>
                      </a:r>
                      <a:endParaRPr lang="en-US" dirty="0"/>
                    </a:p>
                  </a:txBody>
                  <a:tcPr/>
                </a:tc>
                <a:tc>
                  <a:txBody>
                    <a:bodyPr/>
                    <a:lstStyle/>
                    <a:p>
                      <a:r>
                        <a:rPr lang="en-US" sz="1800" b="1" kern="1200" dirty="0" smtClean="0">
                          <a:solidFill>
                            <a:schemeClr val="lt1"/>
                          </a:solidFill>
                          <a:effectLst/>
                          <a:latin typeface="+mn-lt"/>
                          <a:ea typeface="+mn-ea"/>
                          <a:cs typeface="+mn-cs"/>
                        </a:rPr>
                        <a:t> orders</a:t>
                      </a:r>
                      <a:endParaRPr lang="en-US" dirty="0"/>
                    </a:p>
                  </a:txBody>
                  <a:tcPr/>
                </a:tc>
              </a:tr>
              <a:tr h="370840">
                <a:tc>
                  <a:txBody>
                    <a:bodyPr/>
                    <a:lstStyle/>
                    <a:p>
                      <a:r>
                        <a:rPr lang="en-US" sz="1800" kern="1200" dirty="0" smtClean="0">
                          <a:solidFill>
                            <a:schemeClr val="dk1"/>
                          </a:solidFill>
                          <a:effectLst/>
                          <a:latin typeface="+mn-lt"/>
                          <a:ea typeface="+mn-ea"/>
                          <a:cs typeface="+mn-cs"/>
                        </a:rPr>
                        <a:t>customerid char(5) not null </a:t>
                      </a:r>
                      <a:endParaRPr lang="en-US" dirty="0"/>
                    </a:p>
                  </a:txBody>
                  <a:tcPr/>
                </a:tc>
                <a:tc>
                  <a:txBody>
                    <a:bodyPr/>
                    <a:lstStyle/>
                    <a:p>
                      <a:r>
                        <a:rPr lang="en-US" sz="1800" kern="1200" dirty="0" smtClean="0">
                          <a:solidFill>
                            <a:schemeClr val="dk1"/>
                          </a:solidFill>
                          <a:effectLst/>
                          <a:latin typeface="+mn-lt"/>
                          <a:ea typeface="+mn-ea"/>
                          <a:cs typeface="+mn-cs"/>
                        </a:rPr>
                        <a:t>orderid integer not null</a:t>
                      </a:r>
                      <a:endParaRPr lang="en-US" dirty="0"/>
                    </a:p>
                  </a:txBody>
                  <a:tcPr/>
                </a:tc>
              </a:tr>
              <a:tr h="370840">
                <a:tc>
                  <a:txBody>
                    <a:bodyPr/>
                    <a:lstStyle/>
                    <a:p>
                      <a:r>
                        <a:rPr lang="en-US" sz="1800" kern="1200" dirty="0" smtClean="0">
                          <a:solidFill>
                            <a:schemeClr val="dk1"/>
                          </a:solidFill>
                          <a:effectLst/>
                          <a:latin typeface="+mn-lt"/>
                          <a:ea typeface="+mn-ea"/>
                          <a:cs typeface="+mn-cs"/>
                        </a:rPr>
                        <a:t>companyname varchar(40) not null </a:t>
                      </a:r>
                      <a:endParaRPr lang="en-US" dirty="0"/>
                    </a:p>
                  </a:txBody>
                  <a:tcPr/>
                </a:tc>
                <a:tc>
                  <a:txBody>
                    <a:bodyPr/>
                    <a:lstStyle/>
                    <a:p>
                      <a:r>
                        <a:rPr lang="en-US" sz="1800" kern="1200" dirty="0" smtClean="0">
                          <a:solidFill>
                            <a:schemeClr val="dk1"/>
                          </a:solidFill>
                          <a:effectLst/>
                          <a:latin typeface="+mn-lt"/>
                          <a:ea typeface="+mn-ea"/>
                          <a:cs typeface="+mn-cs"/>
                        </a:rPr>
                        <a:t>customerid char(5) not null</a:t>
                      </a:r>
                      <a:endParaRPr lang="en-US" dirty="0"/>
                    </a:p>
                  </a:txBody>
                  <a:tcPr/>
                </a:tc>
              </a:tr>
              <a:tr h="370840">
                <a:tc>
                  <a:txBody>
                    <a:bodyPr/>
                    <a:lstStyle/>
                    <a:p>
                      <a:r>
                        <a:rPr lang="en-US" sz="1800" kern="1200" dirty="0" smtClean="0">
                          <a:solidFill>
                            <a:schemeClr val="dk1"/>
                          </a:solidFill>
                          <a:effectLst/>
                          <a:latin typeface="+mn-lt"/>
                          <a:ea typeface="+mn-ea"/>
                          <a:cs typeface="+mn-cs"/>
                        </a:rPr>
                        <a:t>contactname char(30) null </a:t>
                      </a:r>
                      <a:endParaRPr lang="en-US" dirty="0"/>
                    </a:p>
                  </a:txBody>
                  <a:tcPr/>
                </a:tc>
                <a:tc>
                  <a:txBody>
                    <a:bodyPr/>
                    <a:lstStyle/>
                    <a:p>
                      <a:r>
                        <a:rPr lang="en-US" sz="1800" kern="1200" dirty="0" smtClean="0">
                          <a:solidFill>
                            <a:schemeClr val="dk1"/>
                          </a:solidFill>
                          <a:effectLst/>
                          <a:latin typeface="+mn-lt"/>
                          <a:ea typeface="+mn-ea"/>
                          <a:cs typeface="+mn-cs"/>
                        </a:rPr>
                        <a:t>orderdate date null</a:t>
                      </a:r>
                      <a:endParaRPr lang="en-US" dirty="0"/>
                    </a:p>
                  </a:txBody>
                  <a:tcPr/>
                </a:tc>
              </a:tr>
              <a:tr h="370840">
                <a:tc>
                  <a:txBody>
                    <a:bodyPr/>
                    <a:lstStyle/>
                    <a:p>
                      <a:r>
                        <a:rPr lang="en-US" sz="1800" kern="1200" dirty="0" smtClean="0">
                          <a:solidFill>
                            <a:schemeClr val="dk1"/>
                          </a:solidFill>
                          <a:effectLst/>
                          <a:latin typeface="+mn-lt"/>
                          <a:ea typeface="+mn-ea"/>
                          <a:cs typeface="+mn-cs"/>
                        </a:rPr>
                        <a:t>address varchar(60) null </a:t>
                      </a:r>
                      <a:endParaRPr lang="en-US" dirty="0"/>
                    </a:p>
                  </a:txBody>
                  <a:tcPr/>
                </a:tc>
                <a:tc>
                  <a:txBody>
                    <a:bodyPr/>
                    <a:lstStyle/>
                    <a:p>
                      <a:r>
                        <a:rPr lang="en-US" sz="1800" kern="1200" dirty="0" smtClean="0">
                          <a:solidFill>
                            <a:schemeClr val="dk1"/>
                          </a:solidFill>
                          <a:effectLst/>
                          <a:latin typeface="+mn-lt"/>
                          <a:ea typeface="+mn-ea"/>
                          <a:cs typeface="+mn-cs"/>
                        </a:rPr>
                        <a:t>shippeddate date null</a:t>
                      </a:r>
                      <a:endParaRPr lang="en-US" dirty="0"/>
                    </a:p>
                  </a:txBody>
                  <a:tcPr/>
                </a:tc>
              </a:tr>
              <a:tr h="370840">
                <a:tc>
                  <a:txBody>
                    <a:bodyPr/>
                    <a:lstStyle/>
                    <a:p>
                      <a:r>
                        <a:rPr lang="en-US" sz="1800" kern="1200" dirty="0" smtClean="0">
                          <a:solidFill>
                            <a:schemeClr val="dk1"/>
                          </a:solidFill>
                          <a:effectLst/>
                          <a:latin typeface="+mn-lt"/>
                          <a:ea typeface="+mn-ea"/>
                          <a:cs typeface="+mn-cs"/>
                        </a:rPr>
                        <a:t>city char(15) null </a:t>
                      </a:r>
                      <a:endParaRPr lang="en-US" dirty="0"/>
                    </a:p>
                  </a:txBody>
                  <a:tcPr/>
                </a:tc>
                <a:tc>
                  <a:txBody>
                    <a:bodyPr/>
                    <a:lstStyle/>
                    <a:p>
                      <a:r>
                        <a:rPr lang="en-US" sz="1800" kern="1200" dirty="0" smtClean="0">
                          <a:solidFill>
                            <a:schemeClr val="dk1"/>
                          </a:solidFill>
                          <a:effectLst/>
                          <a:latin typeface="+mn-lt"/>
                          <a:ea typeface="+mn-ea"/>
                          <a:cs typeface="+mn-cs"/>
                        </a:rPr>
                        <a:t>freight money null</a:t>
                      </a:r>
                      <a:endParaRPr lang="en-US" dirty="0"/>
                    </a:p>
                  </a:txBody>
                  <a:tcPr/>
                </a:tc>
              </a:tr>
              <a:tr h="370840">
                <a:tc>
                  <a:txBody>
                    <a:bodyPr/>
                    <a:lstStyle/>
                    <a:p>
                      <a:r>
                        <a:rPr lang="en-US" sz="1800" kern="1200" dirty="0" smtClean="0">
                          <a:solidFill>
                            <a:schemeClr val="dk1"/>
                          </a:solidFill>
                          <a:effectLst/>
                          <a:latin typeface="+mn-lt"/>
                          <a:ea typeface="+mn-ea"/>
                          <a:cs typeface="+mn-cs"/>
                        </a:rPr>
                        <a:t>phone char(24) null </a:t>
                      </a:r>
                      <a:endParaRPr lang="en-US" dirty="0"/>
                    </a:p>
                  </a:txBody>
                  <a:tcPr/>
                </a:tc>
                <a:tc>
                  <a:txBody>
                    <a:bodyPr/>
                    <a:lstStyle/>
                    <a:p>
                      <a:r>
                        <a:rPr lang="en-US" sz="1800" kern="1200" dirty="0" smtClean="0">
                          <a:solidFill>
                            <a:schemeClr val="dk1"/>
                          </a:solidFill>
                          <a:effectLst/>
                          <a:latin typeface="+mn-lt"/>
                          <a:ea typeface="+mn-ea"/>
                          <a:cs typeface="+mn-cs"/>
                        </a:rPr>
                        <a:t>shipname varchar(40) null</a:t>
                      </a:r>
                      <a:endParaRPr lang="en-US" dirty="0"/>
                    </a:p>
                  </a:txBody>
                  <a:tcPr/>
                </a:tc>
              </a:tr>
              <a:tr h="370840">
                <a:tc>
                  <a:txBody>
                    <a:bodyPr/>
                    <a:lstStyle/>
                    <a:p>
                      <a:r>
                        <a:rPr lang="en-US" sz="1800" kern="1200" dirty="0" smtClean="0">
                          <a:solidFill>
                            <a:schemeClr val="dk1"/>
                          </a:solidFill>
                          <a:effectLst/>
                          <a:latin typeface="+mn-lt"/>
                          <a:ea typeface="+mn-ea"/>
                          <a:cs typeface="+mn-cs"/>
                        </a:rPr>
                        <a:t>fax char(24) null </a:t>
                      </a:r>
                      <a:endParaRPr lang="en-US" dirty="0"/>
                    </a:p>
                  </a:txBody>
                  <a:tcPr/>
                </a:tc>
                <a:tc>
                  <a:txBody>
                    <a:bodyPr/>
                    <a:lstStyle/>
                    <a:p>
                      <a:r>
                        <a:rPr lang="en-US" sz="1800" kern="1200" dirty="0" smtClean="0">
                          <a:solidFill>
                            <a:schemeClr val="dk1"/>
                          </a:solidFill>
                          <a:effectLst/>
                          <a:latin typeface="+mn-lt"/>
                          <a:ea typeface="+mn-ea"/>
                          <a:cs typeface="+mn-cs"/>
                        </a:rPr>
                        <a:t>shipaddress varchar(60) null</a:t>
                      </a:r>
                      <a:endParaRPr lang="en-US" dirty="0"/>
                    </a:p>
                  </a:txBody>
                  <a:tcPr/>
                </a:tc>
              </a:tr>
              <a:tr h="370840">
                <a:tc>
                  <a:txBody>
                    <a:bodyPr/>
                    <a:lstStyle/>
                    <a:p>
                      <a:endParaRPr 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effectLst/>
                          <a:latin typeface="+mn-lt"/>
                          <a:ea typeface="+mn-ea"/>
                          <a:cs typeface="+mn-cs"/>
                        </a:rPr>
                        <a:t>quantity integer null</a:t>
                      </a:r>
                    </a:p>
                  </a:txBody>
                  <a:tcPr/>
                </a:tc>
              </a:tr>
            </a:tbl>
          </a:graphicData>
        </a:graphic>
      </p:graphicFrame>
    </p:spTree>
    <p:extLst>
      <p:ext uri="{BB962C8B-B14F-4D97-AF65-F5344CB8AC3E}">
        <p14:creationId xmlns:p14="http://schemas.microsoft.com/office/powerpoint/2010/main" val="1041396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fontScale="70000" lnSpcReduction="20000"/>
          </a:bodyPr>
          <a:lstStyle/>
          <a:p>
            <a:pPr marL="0" indent="0">
              <a:buNone/>
            </a:pPr>
            <a:r>
              <a:rPr lang="en-US" dirty="0">
                <a:solidFill>
                  <a:srgbClr val="0070C0"/>
                </a:solidFill>
              </a:rPr>
              <a:t>USE test_db;</a:t>
            </a:r>
          </a:p>
          <a:p>
            <a:pPr marL="0" indent="0">
              <a:buNone/>
            </a:pPr>
            <a:r>
              <a:rPr lang="en-US" dirty="0">
                <a:solidFill>
                  <a:srgbClr val="0070C0"/>
                </a:solidFill>
              </a:rPr>
              <a:t>CREATE TABLE customers (customerid CHAR(5) NOT NULL,</a:t>
            </a:r>
          </a:p>
          <a:p>
            <a:pPr marL="0" indent="0">
              <a:buNone/>
            </a:pPr>
            <a:r>
              <a:rPr lang="en-US" dirty="0">
                <a:solidFill>
                  <a:srgbClr val="0070C0"/>
                </a:solidFill>
              </a:rPr>
              <a:t> companyName VARCHAR(40) NOT NULL,</a:t>
            </a:r>
          </a:p>
          <a:p>
            <a:pPr marL="0" indent="0">
              <a:buNone/>
            </a:pPr>
            <a:r>
              <a:rPr lang="en-US" dirty="0">
                <a:solidFill>
                  <a:srgbClr val="0070C0"/>
                </a:solidFill>
              </a:rPr>
              <a:t> contactName CHAR(30) NULL,</a:t>
            </a:r>
          </a:p>
          <a:p>
            <a:pPr marL="0" indent="0">
              <a:buNone/>
            </a:pPr>
            <a:r>
              <a:rPr lang="en-US" dirty="0">
                <a:solidFill>
                  <a:srgbClr val="0070C0"/>
                </a:solidFill>
              </a:rPr>
              <a:t> address VARCHAR(60) NULL,</a:t>
            </a:r>
          </a:p>
          <a:p>
            <a:pPr marL="0" indent="0">
              <a:buNone/>
            </a:pPr>
            <a:r>
              <a:rPr lang="en-US" dirty="0">
                <a:solidFill>
                  <a:srgbClr val="0070C0"/>
                </a:solidFill>
              </a:rPr>
              <a:t> city CHAR(15) NULL,</a:t>
            </a:r>
          </a:p>
          <a:p>
            <a:pPr marL="0" indent="0">
              <a:buNone/>
            </a:pPr>
            <a:r>
              <a:rPr lang="en-US" dirty="0">
                <a:solidFill>
                  <a:srgbClr val="0070C0"/>
                </a:solidFill>
              </a:rPr>
              <a:t> phone CHAR(24) NULL,</a:t>
            </a:r>
          </a:p>
          <a:p>
            <a:pPr marL="0" indent="0">
              <a:buNone/>
            </a:pPr>
            <a:r>
              <a:rPr lang="en-US" dirty="0">
                <a:solidFill>
                  <a:srgbClr val="0070C0"/>
                </a:solidFill>
              </a:rPr>
              <a:t> fax CHAR(24) NULL);</a:t>
            </a:r>
          </a:p>
          <a:p>
            <a:pPr marL="0" indent="0">
              <a:buNone/>
            </a:pPr>
            <a:r>
              <a:rPr lang="en-US" dirty="0">
                <a:solidFill>
                  <a:srgbClr val="0070C0"/>
                </a:solidFill>
              </a:rPr>
              <a:t>CREATE TABLE orders (orderid INTEGER NOT NULL,</a:t>
            </a:r>
          </a:p>
          <a:p>
            <a:pPr marL="0" indent="0">
              <a:buNone/>
            </a:pPr>
            <a:r>
              <a:rPr lang="en-US" dirty="0">
                <a:solidFill>
                  <a:srgbClr val="0070C0"/>
                </a:solidFill>
              </a:rPr>
              <a:t> customerid CHAR(5) NOT NULL,</a:t>
            </a:r>
          </a:p>
          <a:p>
            <a:pPr marL="0" indent="0">
              <a:buNone/>
            </a:pPr>
            <a:r>
              <a:rPr lang="en-US" dirty="0">
                <a:solidFill>
                  <a:srgbClr val="0070C0"/>
                </a:solidFill>
              </a:rPr>
              <a:t> orderdate DATE NULL,</a:t>
            </a:r>
          </a:p>
          <a:p>
            <a:pPr marL="0" indent="0">
              <a:buNone/>
            </a:pPr>
            <a:r>
              <a:rPr lang="en-US" dirty="0">
                <a:solidFill>
                  <a:srgbClr val="0070C0"/>
                </a:solidFill>
              </a:rPr>
              <a:t> shippeddate DATE NULL,</a:t>
            </a:r>
          </a:p>
          <a:p>
            <a:pPr marL="0" indent="0">
              <a:buNone/>
            </a:pPr>
            <a:r>
              <a:rPr lang="en-US" dirty="0">
                <a:solidFill>
                  <a:srgbClr val="0070C0"/>
                </a:solidFill>
              </a:rPr>
              <a:t> freight MONEY NULL,</a:t>
            </a:r>
          </a:p>
          <a:p>
            <a:pPr marL="0" indent="0">
              <a:buNone/>
            </a:pPr>
            <a:r>
              <a:rPr lang="en-US" dirty="0">
                <a:solidFill>
                  <a:srgbClr val="0070C0"/>
                </a:solidFill>
              </a:rPr>
              <a:t> shipname VARCHAR(40) NULL,</a:t>
            </a:r>
          </a:p>
          <a:p>
            <a:pPr marL="0" indent="0">
              <a:buNone/>
            </a:pPr>
            <a:r>
              <a:rPr lang="en-US" dirty="0">
                <a:solidFill>
                  <a:srgbClr val="0070C0"/>
                </a:solidFill>
              </a:rPr>
              <a:t> shipaddress VARCHAR(60) NULL,</a:t>
            </a:r>
          </a:p>
          <a:p>
            <a:pPr marL="0" indent="0">
              <a:buNone/>
            </a:pPr>
            <a:r>
              <a:rPr lang="en-US" dirty="0">
                <a:solidFill>
                  <a:srgbClr val="0070C0"/>
                </a:solidFill>
              </a:rPr>
              <a:t>quantity INTEGER NULL);</a:t>
            </a:r>
          </a:p>
        </p:txBody>
      </p:sp>
    </p:spTree>
    <p:extLst>
      <p:ext uri="{BB962C8B-B14F-4D97-AF65-F5344CB8AC3E}">
        <p14:creationId xmlns:p14="http://schemas.microsoft.com/office/powerpoint/2010/main" val="4859355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lnSpcReduction="10000"/>
          </a:bodyPr>
          <a:lstStyle/>
          <a:p>
            <a:r>
              <a:rPr lang="en-US" dirty="0" smtClean="0"/>
              <a:t>7- Using the ALTER TABLE statement, add a new column named shipregion to the orders</a:t>
            </a:r>
          </a:p>
          <a:p>
            <a:r>
              <a:rPr lang="en-US" dirty="0" smtClean="0"/>
              <a:t>table. The fields should be nullable and contain integers.</a:t>
            </a:r>
          </a:p>
          <a:p>
            <a:r>
              <a:rPr lang="en-US" dirty="0">
                <a:solidFill>
                  <a:srgbClr val="0070C0"/>
                </a:solidFill>
              </a:rPr>
              <a:t>ALTER TABLE orders</a:t>
            </a:r>
          </a:p>
          <a:p>
            <a:r>
              <a:rPr lang="en-US" dirty="0">
                <a:solidFill>
                  <a:srgbClr val="0070C0"/>
                </a:solidFill>
              </a:rPr>
              <a:t> ADD shipregion INTEGER NULL</a:t>
            </a:r>
            <a:r>
              <a:rPr lang="en-US" dirty="0" smtClean="0">
                <a:solidFill>
                  <a:srgbClr val="0070C0"/>
                </a:solidFill>
              </a:rPr>
              <a:t>;</a:t>
            </a:r>
          </a:p>
          <a:p>
            <a:r>
              <a:rPr lang="en-US" dirty="0" smtClean="0"/>
              <a:t>8- Using </a:t>
            </a:r>
            <a:r>
              <a:rPr lang="en-US" dirty="0"/>
              <a:t>the ALTER TABLE statement, change the data type of the column shipregion</a:t>
            </a:r>
          </a:p>
          <a:p>
            <a:r>
              <a:rPr lang="en-US" dirty="0"/>
              <a:t>from INTEGER to CHARACTER with length 8. The fields may contain NULL </a:t>
            </a:r>
            <a:r>
              <a:rPr lang="en-US" dirty="0" smtClean="0"/>
              <a:t>values.</a:t>
            </a:r>
          </a:p>
          <a:p>
            <a:endParaRPr lang="en-US" dirty="0" smtClean="0">
              <a:solidFill>
                <a:srgbClr val="0070C0"/>
              </a:solidFill>
            </a:endParaRPr>
          </a:p>
          <a:p>
            <a:pPr marL="0" indent="0">
              <a:buNone/>
            </a:pPr>
            <a:r>
              <a:rPr lang="en-US" dirty="0">
                <a:solidFill>
                  <a:srgbClr val="0070C0"/>
                </a:solidFill>
              </a:rPr>
              <a:t>ALTER TABLE orders</a:t>
            </a:r>
          </a:p>
          <a:p>
            <a:pPr marL="0" indent="0">
              <a:buNone/>
            </a:pPr>
            <a:r>
              <a:rPr lang="en-US" dirty="0">
                <a:solidFill>
                  <a:srgbClr val="0070C0"/>
                </a:solidFill>
              </a:rPr>
              <a:t> ALTER COLUMN shipregion CHAR(8) NULL</a:t>
            </a:r>
            <a:r>
              <a:rPr lang="en-US" dirty="0" smtClean="0">
                <a:solidFill>
                  <a:srgbClr val="0070C0"/>
                </a:solidFill>
              </a:rPr>
              <a:t>;</a:t>
            </a:r>
          </a:p>
          <a:p>
            <a:pPr marL="0" indent="0">
              <a:buNone/>
            </a:pPr>
            <a:r>
              <a:rPr lang="en-US" dirty="0" smtClean="0"/>
              <a:t>9- </a:t>
            </a:r>
            <a:r>
              <a:rPr lang="en-US" dirty="0"/>
              <a:t>Delete the formerly created column shipregion</a:t>
            </a:r>
            <a:r>
              <a:rPr lang="en-US" dirty="0" smtClean="0"/>
              <a:t>.</a:t>
            </a:r>
          </a:p>
          <a:p>
            <a:pPr marL="0" indent="0">
              <a:buNone/>
            </a:pPr>
            <a:r>
              <a:rPr lang="en-US" dirty="0">
                <a:solidFill>
                  <a:srgbClr val="0070C0"/>
                </a:solidFill>
              </a:rPr>
              <a:t>ALTER TABLE orders</a:t>
            </a:r>
          </a:p>
          <a:p>
            <a:pPr marL="0" indent="0">
              <a:buNone/>
            </a:pPr>
            <a:r>
              <a:rPr lang="en-US" dirty="0">
                <a:solidFill>
                  <a:srgbClr val="0070C0"/>
                </a:solidFill>
              </a:rPr>
              <a:t> DROP COLUMN shipregion;</a:t>
            </a:r>
            <a:endParaRPr lang="en-US" dirty="0">
              <a:solidFill>
                <a:srgbClr val="0070C0"/>
              </a:solidFill>
            </a:endParaRPr>
          </a:p>
          <a:p>
            <a:pPr marL="0" indent="0">
              <a:buNone/>
            </a:pPr>
            <a:endParaRPr lang="en-US" dirty="0" smtClean="0">
              <a:solidFill>
                <a:srgbClr val="0070C0"/>
              </a:solidFill>
            </a:endParaRPr>
          </a:p>
          <a:p>
            <a:pPr marL="0" indent="0">
              <a:buNone/>
            </a:pPr>
            <a:endParaRPr lang="en-US" dirty="0">
              <a:solidFill>
                <a:srgbClr val="0070C0"/>
              </a:solidFill>
            </a:endParaRPr>
          </a:p>
        </p:txBody>
      </p:sp>
    </p:spTree>
    <p:extLst>
      <p:ext uri="{BB962C8B-B14F-4D97-AF65-F5344CB8AC3E}">
        <p14:creationId xmlns:p14="http://schemas.microsoft.com/office/powerpoint/2010/main" val="40393658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lnSpcReduction="10000"/>
          </a:bodyPr>
          <a:lstStyle/>
          <a:p>
            <a:pPr marL="0" indent="0">
              <a:buNone/>
            </a:pPr>
            <a:r>
              <a:rPr lang="en-US" dirty="0" smtClean="0"/>
              <a:t>10- </a:t>
            </a:r>
            <a:r>
              <a:rPr lang="en-US" dirty="0"/>
              <a:t>Describe exactly what happens if a table is deleted with the DROP TABLE statement</a:t>
            </a:r>
            <a:r>
              <a:rPr lang="en-US" dirty="0" smtClean="0"/>
              <a:t>.</a:t>
            </a:r>
          </a:p>
          <a:p>
            <a:pPr marL="0" indent="0">
              <a:buNone/>
            </a:pPr>
            <a:r>
              <a:rPr lang="en-US" dirty="0">
                <a:solidFill>
                  <a:srgbClr val="0070C0"/>
                </a:solidFill>
              </a:rPr>
              <a:t>After deleting a table with the DROP TABLE statement, all data, indices, and triggers belonging to the table are also dropped. In contrast to that, all views that are defined using the table are not removed.</a:t>
            </a:r>
            <a:endParaRPr lang="en-US" dirty="0">
              <a:solidFill>
                <a:srgbClr val="0070C0"/>
              </a:solidFill>
            </a:endParaRPr>
          </a:p>
          <a:p>
            <a:r>
              <a:rPr lang="en-US" dirty="0" smtClean="0"/>
              <a:t>11- </a:t>
            </a:r>
            <a:r>
              <a:rPr lang="en-US" dirty="0"/>
              <a:t>Re-create the tables customers and orders, enhancing their definition with all primary </a:t>
            </a:r>
          </a:p>
          <a:p>
            <a:r>
              <a:rPr lang="en-US" dirty="0"/>
              <a:t>and foreign keys </a:t>
            </a:r>
            <a:r>
              <a:rPr lang="en-US" dirty="0" smtClean="0"/>
              <a:t>constraints.</a:t>
            </a:r>
          </a:p>
          <a:p>
            <a:r>
              <a:rPr lang="en-US" dirty="0">
                <a:solidFill>
                  <a:srgbClr val="0070C0"/>
                </a:solidFill>
              </a:rPr>
              <a:t>USE test_db;</a:t>
            </a:r>
          </a:p>
          <a:p>
            <a:r>
              <a:rPr lang="en-US" dirty="0">
                <a:solidFill>
                  <a:srgbClr val="0070C0"/>
                </a:solidFill>
              </a:rPr>
              <a:t>DROP TABLE orders;</a:t>
            </a:r>
          </a:p>
          <a:p>
            <a:r>
              <a:rPr lang="en-US" dirty="0">
                <a:solidFill>
                  <a:srgbClr val="0070C0"/>
                </a:solidFill>
              </a:rPr>
              <a:t>DROP TABLE customers;</a:t>
            </a:r>
          </a:p>
          <a:p>
            <a:r>
              <a:rPr lang="en-US" dirty="0">
                <a:solidFill>
                  <a:srgbClr val="0070C0"/>
                </a:solidFill>
              </a:rPr>
              <a:t>CREATE TABLE customers (customerid CHAR(5) NOT NULL</a:t>
            </a:r>
          </a:p>
          <a:p>
            <a:r>
              <a:rPr lang="en-US" dirty="0">
                <a:solidFill>
                  <a:srgbClr val="0070C0"/>
                </a:solidFill>
              </a:rPr>
              <a:t> CONSTRAINT prim_cust PRIMARY KEY,</a:t>
            </a:r>
          </a:p>
          <a:p>
            <a:r>
              <a:rPr lang="en-US" dirty="0">
                <a:solidFill>
                  <a:srgbClr val="0070C0"/>
                </a:solidFill>
              </a:rPr>
              <a:t> companyName VARCHAR(40) NOT NULL,</a:t>
            </a:r>
          </a:p>
          <a:p>
            <a:r>
              <a:rPr lang="en-US" dirty="0">
                <a:solidFill>
                  <a:srgbClr val="0070C0"/>
                </a:solidFill>
              </a:rPr>
              <a:t> contactName CHAR(30) NULL,</a:t>
            </a:r>
          </a:p>
          <a:p>
            <a:r>
              <a:rPr lang="en-US" dirty="0">
                <a:solidFill>
                  <a:srgbClr val="0070C0"/>
                </a:solidFill>
              </a:rPr>
              <a:t> address VARCHAR(60) NULL,</a:t>
            </a:r>
          </a:p>
          <a:p>
            <a:endParaRPr lang="en-US" dirty="0" smtClean="0">
              <a:solidFill>
                <a:srgbClr val="0070C0"/>
              </a:solidFill>
            </a:endParaRPr>
          </a:p>
          <a:p>
            <a:pPr marL="0" indent="0">
              <a:buNone/>
            </a:pPr>
            <a:endParaRPr lang="en-US" dirty="0">
              <a:solidFill>
                <a:srgbClr val="0070C0"/>
              </a:solidFill>
            </a:endParaRPr>
          </a:p>
        </p:txBody>
      </p:sp>
    </p:spTree>
    <p:extLst>
      <p:ext uri="{BB962C8B-B14F-4D97-AF65-F5344CB8AC3E}">
        <p14:creationId xmlns:p14="http://schemas.microsoft.com/office/powerpoint/2010/main" val="42426268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fontScale="92500" lnSpcReduction="20000"/>
          </a:bodyPr>
          <a:lstStyle/>
          <a:p>
            <a:r>
              <a:rPr lang="en-US" dirty="0">
                <a:solidFill>
                  <a:srgbClr val="0070C0"/>
                </a:solidFill>
              </a:rPr>
              <a:t> city CHAR(15) NULL,</a:t>
            </a:r>
          </a:p>
          <a:p>
            <a:r>
              <a:rPr lang="en-US" dirty="0">
                <a:solidFill>
                  <a:srgbClr val="0070C0"/>
                </a:solidFill>
              </a:rPr>
              <a:t> phone CHAR(24) NULL,</a:t>
            </a:r>
          </a:p>
          <a:p>
            <a:r>
              <a:rPr lang="en-US" dirty="0">
                <a:solidFill>
                  <a:srgbClr val="0070C0"/>
                </a:solidFill>
              </a:rPr>
              <a:t> fax CHAR(24) NULL);</a:t>
            </a:r>
          </a:p>
          <a:p>
            <a:r>
              <a:rPr lang="en-US" dirty="0">
                <a:solidFill>
                  <a:srgbClr val="0070C0"/>
                </a:solidFill>
              </a:rPr>
              <a:t>CREATE TABLE orders (orderid INTEGER NOT NULL,</a:t>
            </a:r>
          </a:p>
          <a:p>
            <a:r>
              <a:rPr lang="en-US" dirty="0">
                <a:solidFill>
                  <a:srgbClr val="0070C0"/>
                </a:solidFill>
              </a:rPr>
              <a:t> customerid CHAR(5) NOT NULL,</a:t>
            </a:r>
          </a:p>
          <a:p>
            <a:r>
              <a:rPr lang="en-US" dirty="0">
                <a:solidFill>
                  <a:srgbClr val="0070C0"/>
                </a:solidFill>
              </a:rPr>
              <a:t> orderdate DATE NULL,</a:t>
            </a:r>
          </a:p>
          <a:p>
            <a:r>
              <a:rPr lang="en-US" dirty="0">
                <a:solidFill>
                  <a:srgbClr val="0070C0"/>
                </a:solidFill>
              </a:rPr>
              <a:t> shippeddate DATE NULL,</a:t>
            </a:r>
          </a:p>
          <a:p>
            <a:r>
              <a:rPr lang="en-US" dirty="0">
                <a:solidFill>
                  <a:srgbClr val="0070C0"/>
                </a:solidFill>
              </a:rPr>
              <a:t> freight MONEY NULL,</a:t>
            </a:r>
          </a:p>
          <a:p>
            <a:r>
              <a:rPr lang="en-US" dirty="0">
                <a:solidFill>
                  <a:srgbClr val="0070C0"/>
                </a:solidFill>
              </a:rPr>
              <a:t> shipname VARCHAR(40) NULL,</a:t>
            </a:r>
          </a:p>
          <a:p>
            <a:r>
              <a:rPr lang="en-US" dirty="0">
                <a:solidFill>
                  <a:srgbClr val="0070C0"/>
                </a:solidFill>
              </a:rPr>
              <a:t> shipaddress VARCHAR(60) NULL,</a:t>
            </a:r>
          </a:p>
          <a:p>
            <a:r>
              <a:rPr lang="en-US" dirty="0">
                <a:solidFill>
                  <a:srgbClr val="0070C0"/>
                </a:solidFill>
              </a:rPr>
              <a:t> quantity INTEGER NULL,</a:t>
            </a:r>
          </a:p>
          <a:p>
            <a:r>
              <a:rPr lang="en-US" dirty="0">
                <a:solidFill>
                  <a:srgbClr val="0070C0"/>
                </a:solidFill>
              </a:rPr>
              <a:t> CONSTRAINT prim_ord PRIMARY KEY(orderid),</a:t>
            </a:r>
          </a:p>
          <a:p>
            <a:r>
              <a:rPr lang="en-US" dirty="0">
                <a:solidFill>
                  <a:srgbClr val="0070C0"/>
                </a:solidFill>
              </a:rPr>
              <a:t> CONSTRAINT foreign_orders FOREIGN KEY(customerid) REFERENCES </a:t>
            </a:r>
          </a:p>
          <a:p>
            <a:r>
              <a:rPr lang="en-US" dirty="0">
                <a:solidFill>
                  <a:srgbClr val="0070C0"/>
                </a:solidFill>
              </a:rPr>
              <a:t>customers(customerid));</a:t>
            </a:r>
          </a:p>
        </p:txBody>
      </p:sp>
    </p:spTree>
    <p:extLst>
      <p:ext uri="{BB962C8B-B14F-4D97-AF65-F5344CB8AC3E}">
        <p14:creationId xmlns:p14="http://schemas.microsoft.com/office/powerpoint/2010/main" val="36372785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fontScale="92500" lnSpcReduction="20000"/>
          </a:bodyPr>
          <a:lstStyle/>
          <a:p>
            <a:pPr marL="0" indent="0">
              <a:buNone/>
            </a:pPr>
            <a:r>
              <a:rPr lang="en-US" dirty="0" smtClean="0"/>
              <a:t>12- </a:t>
            </a:r>
            <a:r>
              <a:rPr lang="en-US" dirty="0"/>
              <a:t>Using SQL Server Management Studio, try to insert a new row into the orders table </a:t>
            </a:r>
          </a:p>
          <a:p>
            <a:r>
              <a:rPr lang="en-US" dirty="0"/>
              <a:t>with the following values:</a:t>
            </a:r>
          </a:p>
          <a:p>
            <a:r>
              <a:rPr lang="en-US" dirty="0"/>
              <a:t>(10, 'ord01', getdate(), getdate(), 100.0, 'Windstar', 'Ocean', 1)</a:t>
            </a:r>
          </a:p>
          <a:p>
            <a:r>
              <a:rPr lang="en-US" dirty="0"/>
              <a:t>Why isn’t that working</a:t>
            </a:r>
            <a:r>
              <a:rPr lang="en-US" dirty="0" smtClean="0"/>
              <a:t>?</a:t>
            </a:r>
          </a:p>
          <a:p>
            <a:r>
              <a:rPr lang="en-US" dirty="0">
                <a:solidFill>
                  <a:srgbClr val="0070C0"/>
                </a:solidFill>
              </a:rPr>
              <a:t> It is not possible to insert the row, because of the referential constraint enforced in the </a:t>
            </a:r>
            <a:r>
              <a:rPr lang="en-US" dirty="0" smtClean="0">
                <a:solidFill>
                  <a:srgbClr val="0070C0"/>
                </a:solidFill>
              </a:rPr>
              <a:t>CREATE </a:t>
            </a:r>
            <a:r>
              <a:rPr lang="en-US" dirty="0">
                <a:solidFill>
                  <a:srgbClr val="0070C0"/>
                </a:solidFill>
              </a:rPr>
              <a:t>TABLE statement (see S.5.11). The system prints the following </a:t>
            </a:r>
            <a:r>
              <a:rPr lang="en-US" dirty="0" smtClean="0">
                <a:solidFill>
                  <a:srgbClr val="0070C0"/>
                </a:solidFill>
              </a:rPr>
              <a:t>message: The </a:t>
            </a:r>
            <a:r>
              <a:rPr lang="en-US" dirty="0">
                <a:solidFill>
                  <a:srgbClr val="0070C0"/>
                </a:solidFill>
              </a:rPr>
              <a:t>INSERT statement conflicted with the FOREIGN KEY constraint "foreign_orders". </a:t>
            </a:r>
            <a:r>
              <a:rPr lang="en-US" dirty="0" smtClean="0">
                <a:solidFill>
                  <a:srgbClr val="0070C0"/>
                </a:solidFill>
              </a:rPr>
              <a:t>The </a:t>
            </a:r>
            <a:r>
              <a:rPr lang="en-US" dirty="0">
                <a:solidFill>
                  <a:srgbClr val="0070C0"/>
                </a:solidFill>
              </a:rPr>
              <a:t>conflict occurred in database "test_db", table "</a:t>
            </a:r>
            <a:r>
              <a:rPr lang="en-US" dirty="0" err="1">
                <a:solidFill>
                  <a:srgbClr val="0070C0"/>
                </a:solidFill>
              </a:rPr>
              <a:t>dbo.customers</a:t>
            </a:r>
            <a:r>
              <a:rPr lang="en-US" dirty="0">
                <a:solidFill>
                  <a:srgbClr val="0070C0"/>
                </a:solidFill>
              </a:rPr>
              <a:t>", column '</a:t>
            </a:r>
            <a:r>
              <a:rPr lang="en-US" dirty="0" err="1">
                <a:solidFill>
                  <a:srgbClr val="0070C0"/>
                </a:solidFill>
              </a:rPr>
              <a:t>customerid</a:t>
            </a:r>
            <a:r>
              <a:rPr lang="en-US" dirty="0" smtClean="0">
                <a:solidFill>
                  <a:srgbClr val="0070C0"/>
                </a:solidFill>
              </a:rPr>
              <a:t>'.</a:t>
            </a:r>
            <a:r>
              <a:rPr lang="en-US" dirty="0"/>
              <a:t> </a:t>
            </a:r>
            <a:endParaRPr lang="en-US" dirty="0" smtClean="0"/>
          </a:p>
          <a:p>
            <a:pPr marL="0" indent="0">
              <a:buNone/>
            </a:pPr>
            <a:r>
              <a:rPr lang="en-US" dirty="0" smtClean="0"/>
              <a:t>13- Using the ALTER TABLE statement, add the current system date and time as the </a:t>
            </a:r>
          </a:p>
          <a:p>
            <a:r>
              <a:rPr lang="en-US" dirty="0" smtClean="0"/>
              <a:t>default </a:t>
            </a:r>
            <a:r>
              <a:rPr lang="en-US" dirty="0"/>
              <a:t>value to the orderdate column of the orders table</a:t>
            </a:r>
            <a:r>
              <a:rPr lang="en-US" dirty="0" smtClean="0"/>
              <a:t>.</a:t>
            </a:r>
          </a:p>
          <a:p>
            <a:r>
              <a:rPr lang="en-US" dirty="0">
                <a:solidFill>
                  <a:srgbClr val="0070C0"/>
                </a:solidFill>
              </a:rPr>
              <a:t>USE test_db;</a:t>
            </a:r>
          </a:p>
          <a:p>
            <a:r>
              <a:rPr lang="en-US" dirty="0">
                <a:solidFill>
                  <a:srgbClr val="0070C0"/>
                </a:solidFill>
              </a:rPr>
              <a:t>ALTER TABLE orders</a:t>
            </a:r>
          </a:p>
          <a:p>
            <a:r>
              <a:rPr lang="en-US" dirty="0">
                <a:solidFill>
                  <a:srgbClr val="0070C0"/>
                </a:solidFill>
              </a:rPr>
              <a:t> ALTER COLUMN orderdate DATE NULL;</a:t>
            </a:r>
          </a:p>
          <a:p>
            <a:r>
              <a:rPr lang="en-US" dirty="0">
                <a:solidFill>
                  <a:srgbClr val="0070C0"/>
                </a:solidFill>
              </a:rPr>
              <a:t>ALTER TABLE orders</a:t>
            </a:r>
          </a:p>
          <a:p>
            <a:r>
              <a:rPr lang="en-US" dirty="0">
                <a:solidFill>
                  <a:srgbClr val="0070C0"/>
                </a:solidFill>
              </a:rPr>
              <a:t> ADD CONSTRAINT AddDateDflt DEFAULT getdate() FOR orderdate;</a:t>
            </a:r>
            <a:endParaRPr lang="en-US" dirty="0">
              <a:solidFill>
                <a:srgbClr val="0070C0"/>
              </a:solidFill>
            </a:endParaRPr>
          </a:p>
          <a:p>
            <a:endParaRPr lang="en-US" dirty="0" smtClean="0">
              <a:solidFill>
                <a:srgbClr val="0070C0"/>
              </a:solidFill>
            </a:endParaRPr>
          </a:p>
          <a:p>
            <a:endParaRPr lang="en-US" dirty="0" smtClean="0">
              <a:solidFill>
                <a:srgbClr val="0070C0"/>
              </a:solidFill>
            </a:endParaRPr>
          </a:p>
          <a:p>
            <a:endParaRPr lang="en-US" dirty="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3130415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fontScale="92500" lnSpcReduction="20000"/>
          </a:bodyPr>
          <a:lstStyle/>
          <a:p>
            <a:pPr marL="0" indent="0">
              <a:buNone/>
            </a:pPr>
            <a:r>
              <a:rPr lang="en-US" dirty="0" smtClean="0"/>
              <a:t>14- </a:t>
            </a:r>
            <a:r>
              <a:rPr lang="en-US" dirty="0"/>
              <a:t>Using the ALTER TABLE statement, create an integrity constraint that limits the </a:t>
            </a:r>
            <a:r>
              <a:rPr lang="en-US" dirty="0" smtClean="0"/>
              <a:t>possible </a:t>
            </a:r>
            <a:r>
              <a:rPr lang="en-US" dirty="0"/>
              <a:t>values of the quantity column in the orders table to values between 1 and 30.</a:t>
            </a:r>
          </a:p>
          <a:p>
            <a:pPr marL="0" indent="0">
              <a:buNone/>
            </a:pPr>
            <a:r>
              <a:rPr lang="en-US" dirty="0">
                <a:solidFill>
                  <a:srgbClr val="0070C0"/>
                </a:solidFill>
              </a:rPr>
              <a:t>USE test_db;</a:t>
            </a:r>
          </a:p>
          <a:p>
            <a:pPr marL="0" indent="0">
              <a:buNone/>
            </a:pPr>
            <a:r>
              <a:rPr lang="en-US" dirty="0">
                <a:solidFill>
                  <a:srgbClr val="0070C0"/>
                </a:solidFill>
              </a:rPr>
              <a:t>ALTER TABLE orders</a:t>
            </a:r>
          </a:p>
          <a:p>
            <a:pPr marL="0" indent="0">
              <a:buNone/>
            </a:pPr>
            <a:r>
              <a:rPr lang="en-US" dirty="0">
                <a:solidFill>
                  <a:srgbClr val="0070C0"/>
                </a:solidFill>
              </a:rPr>
              <a:t> ADD CONSTRAINT limit_qu</a:t>
            </a:r>
          </a:p>
          <a:p>
            <a:pPr marL="0" indent="0">
              <a:buNone/>
            </a:pPr>
            <a:r>
              <a:rPr lang="en-US" dirty="0">
                <a:solidFill>
                  <a:srgbClr val="0070C0"/>
                </a:solidFill>
              </a:rPr>
              <a:t> CHECK (quantity BETWEEN 1 AND 30);</a:t>
            </a:r>
            <a:endParaRPr lang="en-US" dirty="0">
              <a:solidFill>
                <a:srgbClr val="0070C0"/>
              </a:solidFill>
            </a:endParaRPr>
          </a:p>
          <a:p>
            <a:pPr marL="0" indent="0">
              <a:buNone/>
            </a:pPr>
            <a:r>
              <a:rPr lang="en-US" dirty="0" smtClean="0"/>
              <a:t>15- </a:t>
            </a:r>
            <a:r>
              <a:rPr lang="en-US" dirty="0"/>
              <a:t>Display all integrity constraints for the orders </a:t>
            </a:r>
            <a:r>
              <a:rPr lang="en-US" dirty="0" smtClean="0"/>
              <a:t>table.</a:t>
            </a:r>
          </a:p>
          <a:p>
            <a:pPr marL="0" indent="0">
              <a:buNone/>
            </a:pPr>
            <a:r>
              <a:rPr lang="en-US" dirty="0" smtClean="0">
                <a:solidFill>
                  <a:srgbClr val="0070C0"/>
                </a:solidFill>
              </a:rPr>
              <a:t>There </a:t>
            </a:r>
            <a:r>
              <a:rPr lang="en-US" dirty="0">
                <a:solidFill>
                  <a:srgbClr val="0070C0"/>
                </a:solidFill>
              </a:rPr>
              <a:t>are several ways to display integrity constraints of a table. The easiest way is to use the sp_helpconstraint system procedure: </a:t>
            </a:r>
            <a:r>
              <a:rPr lang="en-US" dirty="0">
                <a:solidFill>
                  <a:srgbClr val="FF0000"/>
                </a:solidFill>
              </a:rPr>
              <a:t>sp_helpconstraint orders</a:t>
            </a:r>
            <a:endParaRPr lang="en-US" dirty="0" smtClean="0">
              <a:solidFill>
                <a:srgbClr val="FF0000"/>
              </a:solidFill>
            </a:endParaRPr>
          </a:p>
          <a:p>
            <a:pPr marL="0" indent="0">
              <a:buNone/>
            </a:pPr>
            <a:r>
              <a:rPr lang="en-US" dirty="0" smtClean="0"/>
              <a:t>16- </a:t>
            </a:r>
            <a:r>
              <a:rPr lang="en-US" dirty="0"/>
              <a:t>Delete the primary key of the customers table. Why isn’t that working</a:t>
            </a:r>
            <a:endParaRPr lang="en-US" dirty="0" smtClean="0">
              <a:solidFill>
                <a:srgbClr val="0070C0"/>
              </a:solidFill>
            </a:endParaRPr>
          </a:p>
          <a:p>
            <a:r>
              <a:rPr lang="en-US" dirty="0">
                <a:solidFill>
                  <a:srgbClr val="0070C0"/>
                </a:solidFill>
              </a:rPr>
              <a:t>USE test_db;</a:t>
            </a:r>
          </a:p>
          <a:p>
            <a:r>
              <a:rPr lang="en-US" dirty="0">
                <a:solidFill>
                  <a:srgbClr val="0070C0"/>
                </a:solidFill>
              </a:rPr>
              <a:t>ALTER TABLE customers</a:t>
            </a:r>
          </a:p>
          <a:p>
            <a:r>
              <a:rPr lang="en-US" dirty="0">
                <a:solidFill>
                  <a:srgbClr val="0070C0"/>
                </a:solidFill>
              </a:rPr>
              <a:t> DROP CONSTRAINT prim_cust;</a:t>
            </a:r>
          </a:p>
          <a:p>
            <a:r>
              <a:rPr lang="en-US" dirty="0">
                <a:solidFill>
                  <a:srgbClr val="0070C0"/>
                </a:solidFill>
              </a:rPr>
              <a:t>That statement will not work, because the primary key constraint prim_cust is referenced by </a:t>
            </a:r>
          </a:p>
          <a:p>
            <a:r>
              <a:rPr lang="en-US" dirty="0">
                <a:solidFill>
                  <a:srgbClr val="0070C0"/>
                </a:solidFill>
              </a:rPr>
              <a:t>the foreign key constraint defined in the orders table.</a:t>
            </a:r>
            <a:endParaRPr lang="en-US" dirty="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14570953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30" y="62068"/>
            <a:ext cx="8664815" cy="1092477"/>
          </a:xfrm>
        </p:spPr>
        <p:txBody>
          <a:bodyPr/>
          <a:lstStyle/>
          <a:p>
            <a:r>
              <a:rPr lang="en-US" dirty="0" smtClean="0"/>
              <a:t>Unite 5 exercises</a:t>
            </a:r>
            <a:endParaRPr lang="en-US" dirty="0"/>
          </a:p>
        </p:txBody>
      </p:sp>
      <p:sp>
        <p:nvSpPr>
          <p:cNvPr id="3" name="Content Placeholder 2"/>
          <p:cNvSpPr>
            <a:spLocks noGrp="1"/>
          </p:cNvSpPr>
          <p:nvPr>
            <p:ph idx="1"/>
          </p:nvPr>
        </p:nvSpPr>
        <p:spPr>
          <a:xfrm>
            <a:off x="267854" y="955963"/>
            <a:ext cx="11665527" cy="5652655"/>
          </a:xfrm>
        </p:spPr>
        <p:style>
          <a:lnRef idx="1">
            <a:schemeClr val="accent4"/>
          </a:lnRef>
          <a:fillRef idx="2">
            <a:schemeClr val="accent4"/>
          </a:fillRef>
          <a:effectRef idx="1">
            <a:schemeClr val="accent4"/>
          </a:effectRef>
          <a:fontRef idx="minor">
            <a:schemeClr val="dk1"/>
          </a:fontRef>
        </p:style>
        <p:txBody>
          <a:bodyPr>
            <a:normAutofit/>
          </a:bodyPr>
          <a:lstStyle/>
          <a:p>
            <a:pPr marL="0" indent="0">
              <a:buNone/>
            </a:pPr>
            <a:r>
              <a:rPr lang="en-US" dirty="0"/>
              <a:t>1</a:t>
            </a:r>
            <a:r>
              <a:rPr lang="en-US" dirty="0" smtClean="0"/>
              <a:t>7- </a:t>
            </a:r>
            <a:r>
              <a:rPr lang="en-US" dirty="0"/>
              <a:t>Delete the integrity constraint called prim_empl defined in Example 5.7</a:t>
            </a:r>
            <a:r>
              <a:rPr lang="en-US" dirty="0" smtClean="0"/>
              <a:t>.</a:t>
            </a:r>
          </a:p>
          <a:p>
            <a:pPr marL="0" indent="0">
              <a:buNone/>
            </a:pPr>
            <a:r>
              <a:rPr lang="en-US" dirty="0">
                <a:solidFill>
                  <a:srgbClr val="0070C0"/>
                </a:solidFill>
              </a:rPr>
              <a:t>USE test_db;</a:t>
            </a:r>
          </a:p>
          <a:p>
            <a:pPr marL="0" indent="0">
              <a:buNone/>
            </a:pPr>
            <a:r>
              <a:rPr lang="en-US" dirty="0">
                <a:solidFill>
                  <a:srgbClr val="0070C0"/>
                </a:solidFill>
              </a:rPr>
              <a:t>ALTER TABLE employee</a:t>
            </a:r>
          </a:p>
          <a:p>
            <a:pPr marL="0" indent="0">
              <a:buNone/>
            </a:pPr>
            <a:r>
              <a:rPr lang="en-US" dirty="0">
                <a:solidFill>
                  <a:srgbClr val="0070C0"/>
                </a:solidFill>
              </a:rPr>
              <a:t> DROP CONSTRAINT </a:t>
            </a:r>
            <a:r>
              <a:rPr lang="en-US" dirty="0" smtClean="0">
                <a:solidFill>
                  <a:srgbClr val="0070C0"/>
                </a:solidFill>
              </a:rPr>
              <a:t>prim_empl;</a:t>
            </a:r>
          </a:p>
          <a:p>
            <a:pPr marL="0" indent="0">
              <a:buNone/>
            </a:pPr>
            <a:r>
              <a:rPr lang="en-US" dirty="0" smtClean="0"/>
              <a:t>18- Rename the city column of the customers table. The new name is town</a:t>
            </a:r>
          </a:p>
          <a:p>
            <a:pPr marL="0" indent="0">
              <a:buNone/>
            </a:pPr>
            <a:r>
              <a:rPr lang="en-US" dirty="0">
                <a:solidFill>
                  <a:srgbClr val="0070C0"/>
                </a:solidFill>
              </a:rPr>
              <a:t>EXEC sp_rename '</a:t>
            </a:r>
            <a:r>
              <a:rPr lang="en-US" dirty="0" err="1">
                <a:solidFill>
                  <a:srgbClr val="0070C0"/>
                </a:solidFill>
              </a:rPr>
              <a:t>customers.city</a:t>
            </a:r>
            <a:r>
              <a:rPr lang="en-US" dirty="0">
                <a:solidFill>
                  <a:srgbClr val="0070C0"/>
                </a:solidFill>
              </a:rPr>
              <a:t>', town;</a:t>
            </a:r>
            <a:endParaRPr lang="en-US" dirty="0" smtClean="0">
              <a:solidFill>
                <a:srgbClr val="0070C0"/>
              </a:solidFill>
            </a:endParaRPr>
          </a:p>
        </p:txBody>
      </p:sp>
    </p:spTree>
    <p:extLst>
      <p:ext uri="{BB962C8B-B14F-4D97-AF65-F5344CB8AC3E}">
        <p14:creationId xmlns:p14="http://schemas.microsoft.com/office/powerpoint/2010/main" val="330831681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docProps/app.xml><?xml version="1.0" encoding="utf-8"?>
<Properties xmlns="http://schemas.openxmlformats.org/officeDocument/2006/extended-properties" xmlns:vt="http://schemas.openxmlformats.org/officeDocument/2006/docPropsVTypes">
  <Template>Integral</Template>
  <TotalTime>52</TotalTime>
  <Words>1220</Words>
  <Application>Microsoft Office PowerPoint</Application>
  <PresentationFormat>Widescreen</PresentationFormat>
  <Paragraphs>152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Tw Cen MT</vt:lpstr>
      <vt:lpstr>Tw Cen MT Condensed</vt:lpstr>
      <vt:lpstr>Wingdings 3</vt:lpstr>
      <vt:lpstr>Integral</vt:lpstr>
      <vt:lpstr>Sarwar ebrahimi</vt:lpstr>
      <vt:lpstr>Unite 5 exercises</vt:lpstr>
      <vt:lpstr>Unite 5 exercises</vt:lpstr>
      <vt:lpstr>Unite 5 exercises</vt:lpstr>
      <vt:lpstr>Unite 5 exercises</vt:lpstr>
      <vt:lpstr>Unite 5 exercises</vt:lpstr>
      <vt:lpstr>Unite 5 exercises</vt:lpstr>
      <vt:lpstr>Unite 5 exercises</vt:lpstr>
      <vt:lpstr>Unite 5 exercises</vt:lpstr>
      <vt:lpstr>Unite 5 exercises</vt:lpstr>
      <vt:lpstr>Unite 5 exercises</vt:lpstr>
      <vt:lpstr>Unite 5 exercises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DBMS ASSIGNMENT</dc:title>
  <dc:creator>Ebrahimi</dc:creator>
  <cp:lastModifiedBy>Ebrahimi</cp:lastModifiedBy>
  <cp:revision>7</cp:revision>
  <dcterms:created xsi:type="dcterms:W3CDTF">2025-09-19T16:41:18Z</dcterms:created>
  <dcterms:modified xsi:type="dcterms:W3CDTF">2025-09-19T17:33:36Z</dcterms:modified>
</cp:coreProperties>
</file>